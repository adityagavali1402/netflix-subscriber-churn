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99"/>
    <p:sldId id="263" r:id="rId9"/>
    <p:sldId id="264" r:id="rId10"/>
    <p:sldId id="265" r:id="rId11"/>
    <p:sldId id="268" r:id="rId14"/>
    <p:sldId id="269" r:id="rId15"/>
    <p:sldId id="270" r:id="rId16"/>
    <p:sldId id="272" r:id="rId100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99" Type="http://schemas.openxmlformats.org/officeDocument/2006/relationships/slide" Target="slides/slide7.xml"/><Relationship Id="rId100" Type="http://schemas.openxmlformats.org/officeDocument/2006/relationships/slide" Target="slides/slide16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414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1414"/>
                </a:solidFill>
                <a:latin typeface="Arial"/>
              </a:rPr>
              <a:t>Plan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Standard</c:v>
                  </c:pt>
                  <c:pt idx="1">
                    <c:v>Basic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475</c:v>
                </c:pt>
                <c:pt idx="1">
                  <c:v>422</c:v>
                </c:pt>
                <c:pt idx="2">
                  <c:v>279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414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1414"/>
                </a:solidFill>
                <a:latin typeface="Arial"/>
              </a:rPr>
              <a:t>Device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414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Tablet</c:v>
                  </c:pt>
                  <c:pt idx="1">
                    <c:v>Laptop</c:v>
                  </c:pt>
                  <c:pt idx="2">
                    <c:v>TV</c:v>
                  </c:pt>
                  <c:pt idx="3">
                    <c:v>Mobile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341</c:v>
                </c:pt>
                <c:pt idx="1">
                  <c:v>287</c:v>
                </c:pt>
                <c:pt idx="2">
                  <c:v>283</c:v>
                </c:pt>
                <c:pt idx="3">
                  <c:v>265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FFFF"/>
              </a:solidFill>
              <a:effectLst/>
            </c:spPr>
          </c:dPt>
          <c:dPt>
            <c:idx val="1"/>
            <c:bubble3D val="0"/>
            <c:spPr>
              <a:solidFill>
                <a:srgbClr val="E5091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414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414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977</c:v>
                </c:pt>
                <c:pt idx="1">
                  <c:v>175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10" Type="http://schemas.openxmlformats.org/officeDocument/2006/relationships/image" Target="../media/github-icon.png"/><Relationship Id="rId11" Type="http://schemas.openxmlformats.org/officeDocument/2006/relationships/image" Target="../media/linkedin-icon.png"/><Relationship Id="rId12" Type="http://schemas.openxmlformats.org/officeDocument/2006/relationships/hyperlink" Target="https://www.linkedin.com/in/aditya-gavali-5b245b343/" TargetMode="External"/><Relationship Id="rId13" Type="http://schemas.openxmlformats.org/officeDocument/2006/relationships/hyperlink" Target="https://github.com/AdityaGavali1402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20" Type="http://schemas.openxmlformats.org/officeDocument/2006/relationships/image" Target="../media/num-age.png"/><Relationship Id="rId21" Type="http://schemas.openxmlformats.org/officeDocument/2006/relationships/image" Target="../media/num-tenure.png"/><Relationship Id="rId22" Type="http://schemas.openxmlformats.org/officeDocument/2006/relationships/image" Target="../media/num-watch.png"/><Relationship Id="rId23" Type="http://schemas.openxmlformats.org/officeDocument/2006/relationships/image" Target="../media/num-login.png"/><Relationship Id="rId24" Type="http://schemas.openxmlformats.org/officeDocument/2006/relationships/image" Target="../media/num-sat.png"/><Relationship Id="rId25" Type="http://schemas.openxmlformats.org/officeDocument/2006/relationships/image" Target="../media/num-churn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multivariate-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7-1.png"/><Relationship Id="rId3" Type="http://schemas.openxmlformats.org/officeDocument/2006/relationships/image" Target="../media/github-icon.png"/><Relationship Id="rId4" Type="http://schemas.openxmlformats.org/officeDocument/2006/relationships/image" Target="../media/linkedin-icon.png"/><Relationship Id="rId5" Type="http://schemas.openxmlformats.org/officeDocument/2006/relationships/hyperlink" Target="https://www.linkedin.com/in/aditya-gavali-5b245b343/" TargetMode="External"/><Relationship Id="rId6" Type="http://schemas.openxmlformats.org/officeDocument/2006/relationships/hyperlink" Target="https://github.com/AdityaGavali14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pic>
        <p:nvPicPr>
          <p:cNvPr id="3" name="Image 0" descr="/home/claude/netflix_icon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F L I X   A N A L Y T I C 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 Subscriber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06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cancel button — what does the data really say?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PROJECT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Netflix_Churn_Prediction.csv   •   pandas · numpy · matplotlib · seaborn</a:t>
            </a:r>
            <a:endParaRPr lang="en-US" sz="1100" dirty="0"/>
          </a:p>
        </p:txBody>
      </p:sp>
      <p:sp>
        <p:nvSpPr>
          <p:cNvPr id="30" name="Presented By"/>
          <p:cNvSpPr/>
          <p:nvPr/>
        </p:nvSpPr>
        <p:spPr>
          <a:xfrm>
            <a:off x="868680" y="5120640"/>
            <a:ext cx="3931920" cy="502920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>
            <a:noFill/>
          </a:ln>
        </p:spPr>
        <p:txBody>
          <a:bodyPr wrap="square" lIns="182880" tIns="0" rIns="18288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Aditya Gavali</a:t>
            </a:r>
          </a:p>
        </p:txBody>
      </p:sp>
      <p:pic>
        <p:nvPicPr>
          <p:cNvPr id="31" name="LinkedIn Logo" descr="LinkedIn Logo">
            <a:hlinkClick r:id="rId12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2080" y="5120640"/>
            <a:ext cx="502920" cy="502920"/>
          </a:xfrm>
          <a:prstGeom prst="rect">
            <a:avLst/>
          </a:prstGeom>
        </p:spPr>
      </p:pic>
      <p:sp>
        <p:nvSpPr>
          <p:cNvPr id="32" name="LinkedIn Link"/>
          <p:cNvSpPr txBox="1"/>
          <p:nvPr/>
        </p:nvSpPr>
        <p:spPr>
          <a:xfrm>
            <a:off x="5806440" y="5120640"/>
            <a:ext cx="640080" cy="5029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</a:p>
        </p:txBody>
      </p:sp>
      <p:pic>
        <p:nvPicPr>
          <p:cNvPr id="33" name="GitHub Logo" descr="GitHub Logo">
            <a:hlinkClick r:id="rId13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5120640"/>
            <a:ext cx="502920" cy="502920"/>
          </a:xfrm>
          <a:prstGeom prst="rect">
            <a:avLst/>
          </a:prstGeom>
        </p:spPr>
      </p:pic>
      <p:sp>
        <p:nvSpPr>
          <p:cNvPr id="34" name="GitHub Link"/>
          <p:cNvSpPr txBox="1"/>
          <p:nvPr/>
        </p:nvSpPr>
        <p:spPr>
          <a:xfrm>
            <a:off x="7452360" y="5120640"/>
            <a:ext cx="560000" cy="5029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35" name="LinkedIn Click Area">
            <a:hlinkClick r:id="rId12"/>
          </p:cNvPr>
          <p:cNvSpPr/>
          <p:nvPr/>
        </p:nvSpPr>
        <p:spPr>
          <a:xfrm>
            <a:off x="5212080" y="5120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GitHub Click Area">
            <a:hlinkClick r:id="rId13"/>
          </p:cNvPr>
          <p:cNvSpPr/>
          <p:nvPr/>
        </p:nvSpPr>
        <p:spPr>
          <a:xfrm>
            <a:off x="6858000" y="5120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churn is one of the biggest revenue risks for a streaming platform. Without a clear, structured view of how usage and engagement relate to cancellations, retention efforts stay reactive instead of data-driven.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44805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488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explore the subscriber dataset to uncover patterns in age, tenure, watch hours, login frequency, plan type, device, and satisfaction — and identify which behaviors are most closely linked to churn, to support smarter retention decisions.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Netflix_Churn_Prediction.csv — raw, uncleaned export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554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5544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554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De-dup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the raw file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Customer_ID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Tenure_Months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15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Watch_Hours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315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Login_Frequency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315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700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Device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700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Satisfaction_Score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4700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Churn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arrived as messy text — mixed units, stray labels, and out-of-range codes had to be parsed before analysis could begin.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by column, before cleaning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76072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Missing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Watch_Hours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Satisfaction_Score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Login_Frequency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Tenure_Months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675120" y="1737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had gaps — this is normal for a scraped / self-reported dataset, but each needed a deliberate imputation strategy.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75120" y="3108960"/>
            <a:ext cx="4937760" cy="1371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0372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383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dropped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1,200 → 1,176  after removing duplicates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Column-by-column, before any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4721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Tenure / Watch Hours / Login Frequency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numbers out of text (e.g. "56 years" → 56) with regex, then cast to float.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14721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values → NaN → Median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like 0 or 150, tenure &gt; 60 months, and logins &gt; 50/day were flagged as invalid and replaced with the column median.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0723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capping (IQR)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0332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Watch_Hours values above the upper whisker (105.9) were capped instead of dropped, preserving row count.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30723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Device text standardization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70332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spaces, lower-cased, removed the word "plan", mapped synonyms (e.g. "tab"/"tablet" → Tablet), then title-cased.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6725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label normalization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"yes/1/y/churned" → Yes and "no/n/active/0" → No into one consistent Yes/No field.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709160"/>
            <a:ext cx="457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31152" y="46725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nulls → Mode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30352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Device, and Churn missing values were filled with the most frequent category.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 Cleaning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rows, raw export vs. cleaned dataset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 ·  BEFORE CLEANING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9072"/>
          <a:ext cx="11091672" cy="1865376"/>
        </p:xfrm>
        <a:graphic>
          <a:graphicData uri="http://schemas.openxmlformats.org/drawingml/2006/table">
            <a:tbl>
              <a:tblPr/>
              <a:tblGrid>
                <a:gridCol w="2267712"/>
                <a:gridCol w="960120"/>
                <a:gridCol w="1051560"/>
                <a:gridCol w="1143000"/>
                <a:gridCol w="1051560"/>
                <a:gridCol w="1371600"/>
                <a:gridCol w="1234440"/>
                <a:gridCol w="1005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Watch_Hrs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 ·  AFTER PROCESSING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96512"/>
          <a:ext cx="11091672" cy="1865376"/>
        </p:xfrm>
        <a:graphic>
          <a:graphicData uri="http://schemas.openxmlformats.org/drawingml/2006/table">
            <a:tbl>
              <a:tblPr/>
              <a:tblGrid>
                <a:gridCol w="2267712"/>
                <a:gridCol w="960120"/>
                <a:gridCol w="1051560"/>
                <a:gridCol w="1143000"/>
                <a:gridCol w="1051560"/>
                <a:gridCol w="1371600"/>
                <a:gridCol w="1234440"/>
                <a:gridCol w="1005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Watch_Hrs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09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units, casing, and stray labels are gone — every value is now a clean, analysis-ready type.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 found in the raw export and removed during cleaning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DUPLICATE PAIRS  ·  IDENTICAL ACROSS ALL COLUMNS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719072"/>
          <a:ext cx="7223760" cy="2798064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914400"/>
                <a:gridCol w="960120"/>
                <a:gridCol w="914400"/>
                <a:gridCol w="100584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Watch_Hours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NF100065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(row 64)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NF100065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(row 1170)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NF100085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(row 84)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NF100085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(row 1162)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NF100331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(row 330)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NF100331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(row 1163)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NF100360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(row 359)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NF100360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(row 1159)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" name="Stat Red"/>
          <p:cNvSpPr txBox="1"/>
          <p:nvPr/>
        </p:nvSpPr>
        <p:spPr>
          <a:xfrm>
            <a:off x="8046720" y="1719072"/>
            <a:ext cx="3593592" cy="1600200"/>
          </a:xfrm>
          <a:prstGeom prst="rect">
            <a:avLst/>
          </a:prstGeom>
          <a:solidFill>
            <a:srgbClr val="E50914"/>
          </a:solidFill>
        </p:spPr>
        <p:txBody>
          <a:bodyPr wrap="square" lIns="0" tIns="0" rIns="0" bIns="0" rtlCol="0" anchor="ctr"/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24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3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exact duplicate rows found</a:t>
            </a:r>
          </a:p>
        </p:txBody>
      </p:sp>
      <p:sp>
        <p:nvSpPr>
          <p:cNvPr id="21" name="Stat Dark"/>
          <p:cNvSpPr txBox="1"/>
          <p:nvPr/>
        </p:nvSpPr>
        <p:spPr>
          <a:xfrm>
            <a:off x="8046720" y="3474720"/>
            <a:ext cx="3593592" cy="1054608"/>
          </a:xfrm>
          <a:prstGeom prst="rect">
            <a:avLst/>
          </a:prstGeom>
          <a:solidFill>
            <a:srgbClr val="141414"/>
          </a:solidFill>
        </p:spPr>
        <p:txBody>
          <a:bodyPr wrap="square" lIns="0" tIns="0" rIns="0" bIns="0" rtlCol="0" anchor="ctr"/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1,200 → 1,176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200" b="0" dirty="0">
                <a:solidFill>
                  <a:srgbClr val="BFBFBF"/>
                </a:solidFill>
                <a:latin typeface="Calibri"/>
                <a:ea typeface="Calibri"/>
                <a:cs typeface="Calibri"/>
              </a:rPr>
              <a:t>rows after dropping duplicates</a:t>
            </a:r>
          </a:p>
        </p:txBody>
      </p:sp>
      <p:sp>
        <p:nvSpPr>
          <p:cNvPr id="22" name="Insight Card"/>
          <p:cNvSpPr txBox="1"/>
          <p:nvPr/>
        </p:nvSpPr>
        <p:spPr>
          <a:xfrm>
            <a:off x="548640" y="4846320"/>
            <a:ext cx="11091672" cy="868680"/>
          </a:xfrm>
          <a:prstGeom prst="rect">
            <a:avLst/>
          </a:prstGeom>
          <a:solidFill>
            <a:srgbClr val="F5F5F5"/>
          </a:solidFill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3" name="Insight Text"/>
          <p:cNvSpPr txBox="1"/>
          <p:nvPr/>
        </p:nvSpPr>
        <p:spPr>
          <a:xfrm>
            <a:off x="777240" y="4937760"/>
            <a:ext cx="106344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marL="228600" indent="-228600">
              <a:spcAft>
                <a:spcPts val="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5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Left in, these copies would double-count subscribers and skew every churn rate and average, so each was dropped and the first occurrence kept.</a:t>
            </a:r>
          </a:p>
          <a:p>
            <a:pPr algn="l" marL="228600" indent="-228600">
              <a:spcAft>
                <a:spcPts val="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5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Separately, 20 Customer_IDs appear twice with different details. They are not exact copies, so they were kept as distinct records.</a:t>
            </a:r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Numerical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the numerical features, plus the target variable (Churn)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0" name="Insight Card"/>
          <p:cNvSpPr txBox="1"/>
          <p:nvPr/>
        </p:nvSpPr>
        <p:spPr>
          <a:xfrm>
            <a:off x="8046720" y="1554480"/>
            <a:ext cx="3593592" cy="4206240"/>
          </a:xfrm>
          <a:prstGeom prst="rect">
            <a:avLst/>
          </a:prstGeom>
          <a:solidFill>
            <a:srgbClr val="F5F5F5"/>
          </a:solidFill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61" name="Insight Label"/>
          <p:cNvSpPr txBox="1"/>
          <p:nvPr/>
        </p:nvSpPr>
        <p:spPr>
          <a:xfrm>
            <a:off x="8275320" y="1783080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/>
                <a:ea typeface="Calibri"/>
                <a:cs typeface="Calibri"/>
              </a:rPr>
              <a:t>Key insights</a:t>
            </a:r>
          </a:p>
        </p:txBody>
      </p:sp>
      <p:sp>
        <p:nvSpPr>
          <p:cNvPr id="62" name="Insight Text"/>
          <p:cNvSpPr txBox="1"/>
          <p:nvPr/>
        </p:nvSpPr>
        <p:spPr>
          <a:xfrm>
            <a:off x="8275320" y="2240280"/>
            <a:ext cx="3136392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Age and tenure are spread evenly across subscribers; watch hours are right-skewed and satisfaction is spread evenly from 1 to 5.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Churn, the target column, is imbalanced: 977 subscribers stayed vs 175 who left (15.2%).</a:t>
            </a:r>
          </a:p>
        </p:txBody>
      </p:sp>
      <p:pic>
        <p:nvPicPr>
          <p:cNvPr id="70" name="Chart age" descr="age distributi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8640" y="1554480"/>
            <a:ext cx="2377440" cy="1704579"/>
          </a:xfrm>
          <a:prstGeom prst="rect">
            <a:avLst/>
          </a:prstGeom>
          <a:ln>
            <a:noFill/>
          </a:ln>
        </p:spPr>
      </p:pic>
      <p:pic>
        <p:nvPicPr>
          <p:cNvPr id="71" name="Chart tenure" descr="tenure distributi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17520" y="1554480"/>
            <a:ext cx="2377440" cy="1698171"/>
          </a:xfrm>
          <a:prstGeom prst="rect">
            <a:avLst/>
          </a:prstGeom>
          <a:ln>
            <a:noFill/>
          </a:ln>
        </p:spPr>
      </p:pic>
      <p:pic>
        <p:nvPicPr>
          <p:cNvPr id="72" name="Chart watch" descr="watch distributi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86400" y="1554480"/>
            <a:ext cx="2377440" cy="1711036"/>
          </a:xfrm>
          <a:prstGeom prst="rect">
            <a:avLst/>
          </a:prstGeom>
          <a:ln>
            <a:noFill/>
          </a:ln>
        </p:spPr>
      </p:pic>
      <p:pic>
        <p:nvPicPr>
          <p:cNvPr id="73" name="Chart login" descr="login distributi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8640" y="3886200"/>
            <a:ext cx="2377440" cy="1749436"/>
          </a:xfrm>
          <a:prstGeom prst="rect">
            <a:avLst/>
          </a:prstGeom>
          <a:ln>
            <a:noFill/>
          </a:ln>
        </p:spPr>
      </p:pic>
      <p:pic>
        <p:nvPicPr>
          <p:cNvPr id="74" name="Chart sat" descr="sat distribution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17520" y="3886200"/>
            <a:ext cx="2377440" cy="1742860"/>
          </a:xfrm>
          <a:prstGeom prst="rect">
            <a:avLst/>
          </a:prstGeom>
          <a:ln>
            <a:noFill/>
          </a:ln>
        </p:spPr>
      </p:pic>
      <p:pic>
        <p:nvPicPr>
          <p:cNvPr id="75" name="Chart churn" descr="churn distributi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86400" y="3886200"/>
            <a:ext cx="2377440" cy="175179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Categorical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 and device mix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394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600200"/>
          <a:ext cx="5394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0" name="Insight Card"/>
          <p:cNvSpPr txBox="1"/>
          <p:nvPr/>
        </p:nvSpPr>
        <p:spPr>
          <a:xfrm>
            <a:off x="548640" y="5669280"/>
            <a:ext cx="11064240" cy="868680"/>
          </a:xfrm>
          <a:prstGeom prst="rect">
            <a:avLst/>
          </a:prstGeom>
          <a:solidFill>
            <a:srgbClr val="F5F5F5"/>
          </a:solidFill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62" name="Insight Text"/>
          <p:cNvSpPr txBox="1"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0000"/>
              </a:lnSpc>
              <a:spcAft>
                <a:spcPts val="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Standard is the largest plan (475 subscribers, ~40%), followed by Basic (422); Premium is the smallest tier at 279 (~24%).</a:t>
            </a:r>
          </a:p>
          <a:p>
            <a:pPr marL="228600" indent="-228600">
              <a:lnSpc>
                <a:spcPct val="100000"/>
              </a:lnSpc>
              <a:spcAft>
                <a:spcPts val="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Devices are evenly split: Tablet leads (341) and Mobile trails (265), so no single screen dominates.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1,152 subscribers with a known churn status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00200"/>
          <a:ext cx="4754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828800"/>
            <a:ext cx="5486400" cy="155448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15.2%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194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of 1,152 subscribers left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3566160"/>
            <a:ext cx="5486400" cy="155448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977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931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retained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("No" churn label)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rows had no valid churn label after cleaning and were excluded from churn-rate calculations.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2" name="Insight Text"/>
          <p:cNvSpPr txBox="1"/>
          <p:nvPr/>
        </p:nvSpPr>
        <p:spPr>
          <a:xfrm>
            <a:off x="6126480" y="530352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3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/>
                <a:ea typeface="Calibri"/>
                <a:cs typeface="Calibri"/>
              </a:rPr>
              <a:t>Only 15.2% churned (175 of 1,152), so retention is strong overall.</a:t>
            </a:r>
          </a:p>
          <a:p>
            <a:pPr marL="228600" indent="-228600">
              <a:lnSpc>
                <a:spcPct val="100000"/>
              </a:lnSpc>
              <a:spcAft>
                <a:spcPts val="3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/>
                <a:ea typeface="Calibri"/>
                <a:cs typeface="Calibri"/>
              </a:rPr>
              <a:t>About 5.6 subscribers stay for every one who leaves.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 — Key Churn Drivers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watch hours and satisfaction score, stayed vs. churned</a:t>
            </a:r>
            <a:endParaRPr lang="en-US" sz="1300" dirty="0"/>
          </a:p>
        </p:txBody>
      </p:sp>
      <p:pic>
        <p:nvPicPr>
          <p:cNvPr id="4" name="Image 0" descr="/home/claude/nb_images/cell203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716" y="1508760"/>
            <a:ext cx="4715368" cy="3886200"/>
          </a:xfrm>
          <a:prstGeom prst="rect">
            <a:avLst/>
          </a:prstGeom>
        </p:spPr>
      </p:pic>
      <p:pic>
        <p:nvPicPr>
          <p:cNvPr id="5" name="Image 1" descr="/home/claude/nb_images/cell207_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436" y="1508760"/>
            <a:ext cx="4715368" cy="3886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0" name="Insight Card"/>
          <p:cNvSpPr txBox="1"/>
          <p:nvPr/>
        </p:nvSpPr>
        <p:spPr>
          <a:xfrm>
            <a:off x="548640" y="5669280"/>
            <a:ext cx="11064240" cy="868680"/>
          </a:xfrm>
          <a:prstGeom prst="rect">
            <a:avLst/>
          </a:prstGeom>
          <a:solidFill>
            <a:srgbClr val="F5F5F5"/>
          </a:solidFill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62" name="Insight Text"/>
          <p:cNvSpPr txBox="1"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0000"/>
              </a:lnSpc>
              <a:spcAft>
                <a:spcPts val="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Churned subscribers watch about 32 hours on average versus ~46 for retained ones, roughly 30% less viewing.</a:t>
            </a:r>
          </a:p>
          <a:p>
            <a:pPr marL="228600" indent="-228600">
              <a:lnSpc>
                <a:spcPct val="100000"/>
              </a:lnSpc>
              <a:spcAft>
                <a:spcPts val="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Satisfaction is also lower for churners (~2.7 vs ~3.0), though the gap is smaller than the watch-hours gap.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watch hours by satisfaction score and churn status</a:t>
            </a:r>
            <a:endParaRPr lang="en-US" sz="1300" dirty="0"/>
          </a:p>
        </p:txBody>
      </p:sp>
      <p:pic>
        <p:nvPicPr>
          <p:cNvPr id="4" name="Image 0" descr="/home/claude/nb_images/cell211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400800" cy="4143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0" name="Insight Card"/>
          <p:cNvSpPr txBox="1"/>
          <p:nvPr/>
        </p:nvSpPr>
        <p:spPr>
          <a:xfrm>
            <a:off x="7223760" y="1600200"/>
            <a:ext cx="4389120" cy="3931920"/>
          </a:xfrm>
          <a:prstGeom prst="rect">
            <a:avLst/>
          </a:prstGeom>
          <a:solidFill>
            <a:srgbClr val="F5F5F5"/>
          </a:solidFill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61" name="Insight Label"/>
          <p:cNvSpPr txBox="1"/>
          <p:nvPr/>
        </p:nvSpPr>
        <p:spPr>
          <a:xfrm>
            <a:off x="7498080" y="18288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/>
                <a:ea typeface="Calibri"/>
                <a:cs typeface="Calibri"/>
              </a:rPr>
              <a:t>Key insights</a:t>
            </a:r>
          </a:p>
        </p:txBody>
      </p:sp>
      <p:sp>
        <p:nvSpPr>
          <p:cNvPr id="62" name="Insight Text"/>
          <p:cNvSpPr txBox="1"/>
          <p:nvPr/>
        </p:nvSpPr>
        <p:spPr>
          <a:xfrm>
            <a:off x="7498080" y="2331720"/>
            <a:ext cx="3840480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At every satisfaction level, churned subscribers watch fewer hours (about 28–38 vs 42–49 for those who stay).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Clr>
                <a:srgbClr val="E50914"/>
              </a:buClr>
              <a:buFont typeface="Arial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Even churners who rate the service 5 watch only ~28 hrs vs ~42, so low viewing signals risk whatever the rating.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exploratory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230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is the strongest behavioral signal — low ratings track closely with churn.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746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matters: churned subscribers watch far fewer hours and log in less often than those who stay.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411480" cy="4114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261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15.2% of subscribers with a known status churned — retention is strong, but concentrated risk pockets exist.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411480" cy="4114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777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was a real challenge: every column needed text-parsing, outlier handling, or standardization before analysis.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Netflix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1280160"/>
            <a:ext cx="731520" cy="731520"/>
          </a:xfrm>
          <a:prstGeom prst="rect">
            <a:avLst/>
          </a:prstGeom>
        </p:spPr>
      </p:pic>
      <p:sp>
        <p:nvSpPr>
          <p:cNvPr id="51" name="Thank You"/>
          <p:cNvSpPr txBox="1"/>
          <p:nvPr/>
        </p:nvSpPr>
        <p:spPr>
          <a:xfrm>
            <a:off x="0" y="2194560"/>
            <a:ext cx="12188952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48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</a:p>
        </p:txBody>
      </p:sp>
      <p:sp>
        <p:nvSpPr>
          <p:cNvPr id="52" name="Questions"/>
          <p:cNvSpPr txBox="1"/>
          <p:nvPr/>
        </p:nvSpPr>
        <p:spPr>
          <a:xfrm>
            <a:off x="0" y="306324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600" b="0" i="1" dirty="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Questions &amp; Discussion</a:t>
            </a:r>
          </a:p>
        </p:txBody>
      </p:sp>
      <p:sp>
        <p:nvSpPr>
          <p:cNvPr id="53" name="Accent Bar"/>
          <p:cNvSpPr/>
          <p:nvPr/>
        </p:nvSpPr>
        <p:spPr>
          <a:xfrm>
            <a:off x="5682996" y="3611880"/>
            <a:ext cx="82296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Presented By"/>
          <p:cNvSpPr txBox="1"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400" b="1" i="0" dirty="0">
                <a:solidFill>
                  <a:srgbClr val="BFBFBF"/>
                </a:solidFill>
                <a:latin typeface="Calibri"/>
                <a:ea typeface="Calibri"/>
                <a:cs typeface="Calibri"/>
              </a:rPr>
              <a:t>Presented by:  Aditya Gavali</a:t>
            </a:r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4" name="LinkedIn Logo" descr="LinkedIn Logo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160520"/>
            <a:ext cx="502920" cy="502920"/>
          </a:xfrm>
          <a:prstGeom prst="rect">
            <a:avLst/>
          </a:prstGeom>
        </p:spPr>
      </p:pic>
      <p:sp>
        <p:nvSpPr>
          <p:cNvPr id="55" name="LinkedIn Link"/>
          <p:cNvSpPr txBox="1"/>
          <p:nvPr/>
        </p:nvSpPr>
        <p:spPr>
          <a:xfrm>
            <a:off x="4937760" y="4160520"/>
            <a:ext cx="800000" cy="5029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</a:p>
        </p:txBody>
      </p:sp>
      <p:pic>
        <p:nvPicPr>
          <p:cNvPr id="56" name="GitHub Logo" descr="GitHub Logo">
            <a:hlinkClick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160520"/>
            <a:ext cx="502920" cy="502920"/>
          </a:xfrm>
          <a:prstGeom prst="rect">
            <a:avLst/>
          </a:prstGeom>
        </p:spPr>
      </p:pic>
      <p:sp>
        <p:nvSpPr>
          <p:cNvPr id="57" name="GitHub Link"/>
          <p:cNvSpPr txBox="1"/>
          <p:nvPr/>
        </p:nvSpPr>
        <p:spPr>
          <a:xfrm>
            <a:off x="6949440" y="4160520"/>
            <a:ext cx="700000" cy="5029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58" name="LinkedIn Click Area">
            <a:hlinkClick r:id="rId5"/>
          </p:cNvPr>
          <p:cNvSpPr/>
          <p:nvPr/>
        </p:nvSpPr>
        <p:spPr>
          <a:xfrm>
            <a:off x="4297680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GitHub Click Area">
            <a:hlinkClick r:id="rId6"/>
          </p:cNvPr>
          <p:cNvSpPr/>
          <p:nvPr/>
        </p:nvSpPr>
        <p:spPr>
          <a:xfrm>
            <a:off x="6309360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2026-09-23T09:29:43Z</dcterms:created>
  <dcterms:modified xsi:type="dcterms:W3CDTF">2026-09-23T09:29:43Z</dcterms:modified>
</cp:coreProperties>
</file>